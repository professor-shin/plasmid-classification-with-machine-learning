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"/>
            <a:ext cx="25603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74904"/>
            <a:ext cx="1188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1188720"/>
            <a:ext cx="2057400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1252728"/>
            <a:ext cx="1837943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Kanit"/>
              </a:rPr>
              <a:t>ADVISOR DISCUSSION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874519"/>
            <a:ext cx="105156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800" b="1">
                <a:solidFill>
                  <a:srgbClr val="202124"/>
                </a:solidFill>
                <a:latin typeface="Kanit"/>
              </a:rPr>
              <a:t>PROJECT RECAP</a:t>
            </a:r>
            <a:r>
              <a:rPr sz="3800" b="1">
                <a:solidFill>
                  <a:srgbClr val="00C853"/>
                </a:solidFill>
                <a:latin typeface="Kanit"/>
              </a:rPr>
              <a:t>// NEXT EXPERIMENT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743200"/>
            <a:ext cx="71323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0">
                <a:solidFill>
                  <a:srgbClr val="5F6368"/>
                </a:solidFill>
                <a:latin typeface="Kanit"/>
              </a:rPr>
              <a:t>Plasmid classification on DNA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337560"/>
            <a:ext cx="8412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202124"/>
                </a:solidFill>
                <a:latin typeface="Noto Sans Thai"/>
              </a:rPr>
              <a:t>สถานะที่ทำแล้ว  |  สมมติฐานที่ต้องทดสอบ  |  คำถามที่ต้องตัดสินใจ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463040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c 31"/>
          <p:cNvSpPr/>
          <p:nvPr/>
        </p:nvSpPr>
        <p:spPr>
          <a:xfrm>
            <a:off x="9006840" y="2148840"/>
            <a:ext cx="1554480" cy="1554480"/>
          </a:xfrm>
          <a:prstGeom prst="arc">
            <a:avLst/>
          </a:prstGeom>
          <a:noFill/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9464040" y="2606040"/>
            <a:ext cx="1554480" cy="1554480"/>
          </a:xfrm>
          <a:prstGeom prst="arc">
            <a:avLst/>
          </a:prstGeom>
          <a:noFill/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2992" y="2130552"/>
            <a:ext cx="201168" cy="201168"/>
          </a:xfrm>
          <a:prstGeom prst="ellipse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904487"/>
            <a:ext cx="2514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A73E8"/>
                </a:solidFill>
                <a:latin typeface="Kanit"/>
              </a:rPr>
              <a:t>DNA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4572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Kanit"/>
              </a:rPr>
              <a:t>EMBED  &gt;  ATTEND  &gt; 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5760720"/>
            <a:ext cx="11887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5F6368"/>
                </a:solidFill>
                <a:latin typeface="Kanit"/>
              </a:rPr>
              <a:t>07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RESEARCH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02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WHAT ARE WE TRYING TO </a:t>
            </a:r>
            <a:r>
              <a:rPr sz="2900" b="1">
                <a:solidFill>
                  <a:srgbClr val="00C853"/>
                </a:solidFill>
                <a:latin typeface="Kanit"/>
              </a:rPr>
              <a:t>ANSWER?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50876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508760"/>
            <a:ext cx="64008" cy="22402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1691639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BIOLOGICAL PROBLEM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03911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Plasmid or chromosome?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560320"/>
            <a:ext cx="2926079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จำแนกลำดับ DNA ของแบคทีเรีย เพื่อช่วยศึกษาการแพร่ของ AMR ผ่าน HGT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150876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1508760"/>
            <a:ext cx="64008" cy="2240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691639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ENGINEERING 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03911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Fast and alignment-free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560320"/>
            <a:ext cx="2926079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ลดการพึ่งพา database และเครื่องมือ alignment ที่หนักต่อ compute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50876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1508760"/>
            <a:ext cx="64008" cy="224028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691639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RESEARCH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203911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Does context add value?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560320"/>
            <a:ext cx="2926079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วัดว่า protein embedding + attention ช่วยเหนือ k-mer baseline หรือไม่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434840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Kanit"/>
              </a:rPr>
              <a:t>คำถามหลักสำหรับงานต่อไป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800600"/>
            <a:ext cx="101498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202124"/>
                </a:solidFill>
                <a:latin typeface="Kanit"/>
              </a:rPr>
              <a:t>เมื่อใช้ split และ test set เดียวกัน
contextual protein representation ช่วยเพิ่มประโยชน์จาก baseline ได้จริงหรือไม่?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CURRENT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03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WHAT IS </a:t>
            </a:r>
            <a:r>
              <a:rPr sz="2900" b="1">
                <a:solidFill>
                  <a:srgbClr val="00C853"/>
                </a:solidFill>
                <a:latin typeface="Kanit"/>
              </a:rPr>
              <a:t>READY?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41732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417320"/>
            <a:ext cx="64008" cy="2971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Evidence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468880"/>
            <a:ext cx="2926079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Noto Sans Thai"/>
              </a:rPr>
              <a:t>Dataset exploration
K-mer + ML baselines
PlasClass / DeepLasmid runs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141732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1417320"/>
            <a:ext cx="64008" cy="2971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468880"/>
            <a:ext cx="2926079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Noto Sans Thai"/>
              </a:rPr>
              <a:t>ESM-2 embeddings
DNABERT branch
Attention pooling
Hybrid fusion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3375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1417320"/>
            <a:ext cx="64008" cy="29718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Validation gap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468880"/>
            <a:ext cx="2926079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Noto Sans Thai"/>
              </a:rPr>
              <a:t>Full-data Attention + MLP
Leakage-safe split
Common benchmark
Final claim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983480"/>
            <a:ext cx="1737360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047488"/>
            <a:ext cx="151790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0C853"/>
                </a:solidFill>
                <a:latin typeface="Kanit"/>
              </a:rPr>
              <a:t>BASELINE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4983480"/>
            <a:ext cx="1783080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6008" y="5047488"/>
            <a:ext cx="156362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Kanit"/>
              </a:rPr>
              <a:t>PROTOTYPE 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4983480"/>
            <a:ext cx="1874519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7" y="5047488"/>
            <a:ext cx="1655063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5722"/>
                </a:solidFill>
                <a:latin typeface="Kanit"/>
              </a:rPr>
              <a:t>DECISION NEEDED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5F6368"/>
                </a:solidFill>
                <a:latin typeface="Noto Sans Thai"/>
              </a:rPr>
              <a:t>สถานะที่ถูกต้อง: มี baseline ที่วัดได้แล้ว แต่ proposed method ยังไม่ใช่ผู้ชนะที่ validate แล้ว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DATA &amp;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04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NAME THE </a:t>
            </a:r>
            <a:r>
              <a:rPr sz="2900" b="1">
                <a:solidFill>
                  <a:srgbClr val="00C853"/>
                </a:solidFill>
                <a:latin typeface="Kanit"/>
              </a:rPr>
              <a:t>PROTOCOL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129844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5F6368"/>
                </a:solidFill>
                <a:latin typeface="Noto Sans Thai"/>
              </a:rPr>
              <a:t>ข้อมูลมีหลายระดับการทดลอง จึงต้องระบุ sample count ทุกครั้ง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1874519"/>
            <a:ext cx="64008" cy="24688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20574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FULL 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4048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12,372 + 12,372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2926079"/>
            <a:ext cx="2926079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Plasmid + chromosome
1 kb - 100 kb
ใช้กับ baseline หลัก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1874519"/>
            <a:ext cx="64008" cy="2468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20574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DEVELOPMENT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4048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250 + 250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926079"/>
            <a:ext cx="2926079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NCBI RefSeq-derived
ใช้เตรียม training data
สำหรับการทดลองขยาย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874519"/>
            <a:ext cx="3337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1874519"/>
            <a:ext cx="64008" cy="246888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20574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PROTOTYPE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4048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50 + 50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2926079"/>
            <a:ext cx="2926079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Attention log
held-out test 20
single random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98348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5722"/>
                </a:solidFill>
                <a:latin typeface="Kanit"/>
              </a:rPr>
              <a:t>ต้องล็อกก่อนรันรอบสุดท้าย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37667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202124"/>
                </a:solidFill>
                <a:latin typeface="Kanit"/>
              </a:rPr>
              <a:t>source  /  parent genome  /  species group  /  train-test boundary  /  fragment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OUR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05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WHAT DOES THE </a:t>
            </a:r>
            <a:r>
              <a:rPr sz="2900" b="1">
                <a:solidFill>
                  <a:srgbClr val="00C853"/>
                </a:solidFill>
                <a:latin typeface="Kanit"/>
              </a:rPr>
              <a:t>BASELINE SAY?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1280160"/>
            <a:ext cx="5303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Kanit"/>
              </a:rPr>
              <a:t>Canonical 5-mer frequency -&gt; classifier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1783080"/>
            <a:ext cx="3063240" cy="411480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1865376"/>
            <a:ext cx="2971800" cy="3017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1783080"/>
            <a:ext cx="1508760" cy="411480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1865376"/>
            <a:ext cx="1417319" cy="3017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ACC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1783080"/>
            <a:ext cx="1508760" cy="411480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59" y="1865376"/>
            <a:ext cx="1417319" cy="3017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1783080"/>
            <a:ext cx="1508760" cy="411480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1865376"/>
            <a:ext cx="1417319" cy="3017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Thai"/>
              </a:rPr>
              <a:t>AUC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2203704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2286000"/>
            <a:ext cx="29718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Logistic Regression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2203704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6200" y="2286000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0.6260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2203704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59" y="2286000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0.6619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2203704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2286000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0.6754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2688336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770632"/>
            <a:ext cx="29718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Linear SVM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268833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6200" y="2770632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0.7195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9240" y="268833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59" y="2770632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0.7272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268833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2770632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0.7831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3172968"/>
            <a:ext cx="306324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3255264"/>
            <a:ext cx="29718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Noto Sans Thai"/>
              </a:rPr>
              <a:t>Random Forest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172968"/>
            <a:ext cx="150876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3255264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Noto Sans Thai"/>
              </a:rPr>
              <a:t>0.8717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3172968"/>
            <a:ext cx="150876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59" y="3255264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Noto Sans Thai"/>
              </a:rPr>
              <a:t>0.8706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3172968"/>
            <a:ext cx="1508760" cy="475488"/>
          </a:xfrm>
          <a:prstGeom prst="rect">
            <a:avLst/>
          </a:prstGeom>
          <a:solidFill>
            <a:srgbClr val="E8F8EE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3255264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202124"/>
                </a:solidFill>
                <a:latin typeface="Noto Sans Thai"/>
              </a:rPr>
              <a:t>0.9501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3657600"/>
            <a:ext cx="3063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739896"/>
            <a:ext cx="29718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MLP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365760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86200" y="3739896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0.8586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365760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4959" y="3739896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0.8523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365760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03720" y="3739896"/>
            <a:ext cx="1417319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202124"/>
                </a:solidFill>
                <a:latin typeface="Noto Sans Thai"/>
              </a:rPr>
              <a:t>0.9272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43800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700" b="1">
                <a:solidFill>
                  <a:srgbClr val="00C853"/>
                </a:solidFill>
                <a:latin typeface="Kanit"/>
              </a:rPr>
              <a:t>0.8706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43800" y="2267712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Noto Sans Thai"/>
              </a:rPr>
              <a:t>best F1 / Random Forest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43800" y="2971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700" b="1">
                <a:solidFill>
                  <a:srgbClr val="FF5722"/>
                </a:solidFill>
                <a:latin typeface="Kanit"/>
              </a:rPr>
              <a:t>0.6473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43800" y="3410712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Noto Sans Thai"/>
              </a:rPr>
              <a:t>RF F1 / 1 kb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43800" y="4114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700" b="1">
                <a:solidFill>
                  <a:srgbClr val="1A73E8"/>
                </a:solidFill>
                <a:latin typeface="Kanit"/>
              </a:rPr>
              <a:t>0.9026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3800" y="4553712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5F6368"/>
                </a:solidFill>
                <a:latin typeface="Noto Sans Thai"/>
              </a:rPr>
              <a:t>RF F1 / 100 kb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5440680"/>
            <a:ext cx="10241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5F6368"/>
                </a:solidFill>
                <a:latin typeface="Noto Sans Thai"/>
              </a:rPr>
              <a:t>Short fragments are the opportunity area, but also the highest-risk area for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EXTERNAL BASELINES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06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KEEP THE </a:t>
            </a:r>
            <a:r>
              <a:rPr sz="2900" b="1">
                <a:solidFill>
                  <a:srgbClr val="00C853"/>
                </a:solidFill>
                <a:latin typeface="Kanit"/>
              </a:rPr>
              <a:t>COMPARISON HONEST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1261872"/>
            <a:ext cx="106070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Noto Sans Thai"/>
              </a:rPr>
              <a:t>แยกจากโมเดลที่เราฝึกเอง: ตัวเลขยังมาจากคนละ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1737360"/>
            <a:ext cx="2331720" cy="393192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1819656"/>
            <a:ext cx="2240279" cy="2834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METHOD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1737360"/>
            <a:ext cx="2103120" cy="393192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79" y="1819656"/>
            <a:ext cx="2011679" cy="2834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9" y="1737360"/>
            <a:ext cx="1325880" cy="393192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799" y="1819656"/>
            <a:ext cx="1234439" cy="2834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59" y="1737360"/>
            <a:ext cx="4389120" cy="393192"/>
          </a:xfrm>
          <a:prstGeom prst="rect">
            <a:avLst/>
          </a:prstGeom>
          <a:solidFill>
            <a:srgbClr val="202124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1819656"/>
            <a:ext cx="4297680" cy="2834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hai"/>
              </a:rPr>
              <a:t>READ THIS 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2139696"/>
            <a:ext cx="23317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2221991"/>
            <a:ext cx="22402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02124"/>
                </a:solidFill>
                <a:latin typeface="Noto Sans Thai"/>
              </a:rPr>
              <a:t>PlasClass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2139696"/>
            <a:ext cx="2103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54679" y="2221991"/>
            <a:ext cx="20116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00C853"/>
                </a:solidFill>
                <a:latin typeface="Noto Sans Thai"/>
              </a:rPr>
              <a:t>รันจริง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79" y="2139696"/>
            <a:ext cx="13258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799" y="2221991"/>
            <a:ext cx="123443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0.8588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59" y="2139696"/>
            <a:ext cx="4389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79" y="2221991"/>
            <a:ext cx="4297680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pretrained / lightweight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2798063"/>
            <a:ext cx="23317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880359"/>
            <a:ext cx="22402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02124"/>
                </a:solidFill>
                <a:latin typeface="Noto Sans Thai"/>
              </a:rPr>
              <a:t>DeepLasmid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2798063"/>
            <a:ext cx="2103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79" y="2880359"/>
            <a:ext cx="20116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1A73E8"/>
                </a:solidFill>
                <a:latin typeface="Noto Sans Thai"/>
              </a:rPr>
              <a:t>Docker run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79" y="2798063"/>
            <a:ext cx="13258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799" y="2880359"/>
            <a:ext cx="123443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0.8490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2798063"/>
            <a:ext cx="4389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79" y="2880359"/>
            <a:ext cx="4297680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precision 0.9917, recall 0.7422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3456432"/>
            <a:ext cx="23317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3538727"/>
            <a:ext cx="22402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02124"/>
                </a:solidFill>
                <a:latin typeface="Noto Sans Thai"/>
              </a:rPr>
              <a:t>mlplasmids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3456432"/>
            <a:ext cx="2103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54679" y="3538727"/>
            <a:ext cx="20116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5722"/>
                </a:solidFill>
                <a:latin typeface="Noto Sans Thai"/>
              </a:rPr>
              <a:t>ไม่มี raw output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79" y="3456432"/>
            <a:ext cx="13258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57799" y="3538727"/>
            <a:ext cx="123443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0.5498*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59" y="3456432"/>
            <a:ext cx="4389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79" y="3538727"/>
            <a:ext cx="4297680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ตัวเลขจาก slide; runner ต้องใช้ Docker/R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4114800"/>
            <a:ext cx="23317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4197096"/>
            <a:ext cx="22402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202124"/>
                </a:solidFill>
                <a:latin typeface="Noto Sans Thai"/>
              </a:rPr>
              <a:t>PlasmidHunter / PLASMe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0" y="4114800"/>
            <a:ext cx="2103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54679" y="4197096"/>
            <a:ext cx="201167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5722"/>
                </a:solidFill>
                <a:latin typeface="Noto Sans Thai"/>
              </a:rPr>
              <a:t>ยังไม่รัน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12079" y="4114800"/>
            <a:ext cx="132588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57799" y="4197096"/>
            <a:ext cx="1234439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59" y="4114800"/>
            <a:ext cx="43891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79" y="4197096"/>
            <a:ext cx="4297680" cy="5394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0">
                <a:solidFill>
                  <a:srgbClr val="202124"/>
                </a:solidFill>
                <a:latin typeface="Noto Sans Thai"/>
              </a:rPr>
              <a:t>alignment + large database; not a weakness claim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FF5722"/>
                </a:solidFill>
                <a:latin typeface="Noto Sans Thai"/>
              </a:rPr>
              <a:t>* mlplasmids F1 = 0.5498 มีในสไลด์ แต่ยังไม่มี raw prediction / run log ใน repository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5440680"/>
            <a:ext cx="10515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202124"/>
                </a:solidFill>
                <a:latin typeface="Kanit"/>
              </a:rPr>
              <a:t>Next: rerun all external tools on one locked test set before ranking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PROPOSED 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07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FROM DNA TO </a:t>
            </a:r>
            <a:r>
              <a:rPr sz="2900" b="1">
                <a:solidFill>
                  <a:srgbClr val="00C853"/>
                </a:solidFill>
                <a:latin typeface="Kanit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15087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508760"/>
            <a:ext cx="64008" cy="2194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1691639"/>
            <a:ext cx="1645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1 / 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039112"/>
            <a:ext cx="16459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DNA sequence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560320"/>
            <a:ext cx="164592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raw sequence or contig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1508760"/>
            <a:ext cx="2331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71800" y="1508760"/>
            <a:ext cx="64008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1691639"/>
            <a:ext cx="192023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2 /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2039112"/>
            <a:ext cx="19202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ORF -&gt; protein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2560320"/>
            <a:ext cx="1920239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amino-acid tokens
ESM-2 embedding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32120" y="1508760"/>
            <a:ext cx="2331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32120" y="1508760"/>
            <a:ext cx="64008" cy="21945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1691639"/>
            <a:ext cx="192023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3 / FOCUS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2039112"/>
            <a:ext cx="192023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Attention pooling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2560320"/>
            <a:ext cx="1920239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learn which ORFs
are informative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1508760"/>
            <a:ext cx="3063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92440" y="1508760"/>
            <a:ext cx="64008" cy="2194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691639"/>
            <a:ext cx="2651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BBC05"/>
                </a:solidFill>
                <a:latin typeface="Kanit"/>
              </a:rPr>
              <a:t>4 /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039112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MLP classifier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560320"/>
            <a:ext cx="265176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plasmid / chromosome
compare to baselines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70632" y="2331720"/>
            <a:ext cx="164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0952" y="2331720"/>
            <a:ext cx="164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2331720"/>
            <a:ext cx="16459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37560" y="4343400"/>
            <a:ext cx="5440680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47288" y="4407408"/>
            <a:ext cx="522122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Kanit"/>
              </a:rPr>
              <a:t>OPTIONAL SECOND BRANCH: DNA -&gt; DNABERT -&gt; FUSION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25780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5722"/>
                </a:solidFill>
                <a:latin typeface="Kanit"/>
              </a:rPr>
              <a:t>Current gap: Attention + MLP ยังไม่ได้ validate บน full data ด้วย protocol เดียวกับ RF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HYPOTHESES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08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TEST THE </a:t>
            </a:r>
            <a:r>
              <a:rPr sz="2900" b="1">
                <a:solidFill>
                  <a:srgbClr val="00C853"/>
                </a:solidFill>
                <a:latin typeface="Kanit"/>
              </a:rPr>
              <a:t>ASSUMPTIONS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4173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417320"/>
            <a:ext cx="64008" cy="2331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H1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Protein may expose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468880"/>
            <a:ext cx="2926079" cy="11429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ถ้า coding signal สำคัญ การแปลง ORF เป็น protein อาจเห็น functional pattern ที่ k-mer ไม่เห็น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14173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1417320"/>
            <a:ext cx="64008" cy="2331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H2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ESM-2 may add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468880"/>
            <a:ext cx="2926079" cy="11429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pretrained embedding อาจให้ biological context มากกว่า count หรือ raw token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1417320"/>
            <a:ext cx="64008" cy="2331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H3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Attention may select 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468880"/>
            <a:ext cx="2926079" cy="11429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attention อาจดีกว่า mean pooling ถ้า informative ORF มีเพียงบางส่วน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343400"/>
            <a:ext cx="2560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F5722"/>
                </a:solidFill>
                <a:latin typeface="Kanit"/>
              </a:rPr>
              <a:t>แต่ตอนนี้ยังมีความเสี่ยง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754880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>
                <a:solidFill>
                  <a:srgbClr val="202124"/>
                </a:solidFill>
                <a:latin typeface="Kanit"/>
              </a:rPr>
              <a:t>50 + / 50 -   |   test = 20   |   single split   |   fragment leakage risk   |   protocol mismatch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0">
                <a:solidFill>
                  <a:srgbClr val="5F6368"/>
                </a:solidFill>
                <a:latin typeface="Noto Sans Thai"/>
              </a:rPr>
              <a:t>ดังนั้นผล ESM-2 F1 = 0.7619 คือ preliminary evidence ไม่ใช่ final superiority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NEXT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09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LOCK THE </a:t>
            </a:r>
            <a:r>
              <a:rPr sz="2900" b="1">
                <a:solidFill>
                  <a:srgbClr val="00C853"/>
                </a:solidFill>
                <a:latin typeface="Kanit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8288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205740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00C853"/>
                </a:solidFill>
                <a:latin typeface="Kanit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5786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Kanit"/>
              </a:rPr>
              <a:t>Manifest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154680"/>
            <a:ext cx="1508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 Thai"/>
              </a:rPr>
              <a:t>ID / source / species / parent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1" y="274320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99232" y="18288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205740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00C853"/>
                </a:solidFill>
                <a:latin typeface="Kanit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25786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Kanit"/>
              </a:rPr>
              <a:t>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154680"/>
            <a:ext cx="1508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 Thai"/>
              </a:rPr>
              <a:t>group before fragment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6904" y="274320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66944" y="18288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8112" y="205740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00C853"/>
                </a:solidFill>
                <a:latin typeface="Kanit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8112" y="25786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Kanit"/>
              </a:rPr>
              <a:t>Benchmark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8112" y="3154680"/>
            <a:ext cx="1508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 Thai"/>
              </a:rPr>
              <a:t>same test + same metrics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14616" y="274320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6" y="18288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35824" y="205740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1A73E8"/>
                </a:solidFill>
                <a:latin typeface="Kanit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5824" y="25786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Kanit"/>
              </a:rPr>
              <a:t>Ablation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5824" y="3154680"/>
            <a:ext cx="1508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 Thai"/>
              </a:rPr>
              <a:t>mean vs attention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2328" y="274320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5F6368"/>
                </a:solidFill>
                <a:latin typeface="Kanit"/>
              </a:rPr>
              <a:t>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02368" y="18288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03536" y="2057400"/>
            <a:ext cx="5669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1A73E8"/>
                </a:solidFill>
                <a:latin typeface="Kanit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3536" y="25786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202124"/>
                </a:solidFill>
                <a:latin typeface="Kanit"/>
              </a:rPr>
              <a:t>Scale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03536" y="3154680"/>
            <a:ext cx="1508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Noto Sans Thai"/>
              </a:rPr>
              <a:t>server + repeated runs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100" b="1">
                <a:solidFill>
                  <a:srgbClr val="00C853"/>
                </a:solidFill>
                <a:latin typeface="Kanit"/>
              </a:rPr>
              <a:t>Decision rule: validate the protocol before increasing model complexity.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"/>
            <a:ext cx="2011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rial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228600"/>
            <a:ext cx="10515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Kanit"/>
              </a:rPr>
              <a:t>SIWAK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"/>
            <a:ext cx="3017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5F6368"/>
                </a:solidFill>
                <a:latin typeface="Kanit"/>
              </a:rPr>
              <a:t>ADVISOR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56032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1000" b="1">
                <a:solidFill>
                  <a:srgbClr val="1A73E8"/>
                </a:solidFill>
                <a:latin typeface="Kanit"/>
              </a:rPr>
              <a:t>10 /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6928"/>
            <a:ext cx="109270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900" b="1">
                <a:solidFill>
                  <a:srgbClr val="202124"/>
                </a:solidFill>
                <a:latin typeface="Kanit"/>
              </a:rPr>
              <a:t>WHAT SHOULD WE </a:t>
            </a:r>
            <a:r>
              <a:rPr sz="2900" b="1">
                <a:solidFill>
                  <a:srgbClr val="00C853"/>
                </a:solidFill>
                <a:latin typeface="Kanit"/>
              </a:rPr>
              <a:t>LOCK TODAY?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3200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Kanit"/>
              </a:rPr>
              <a:t>PROJECT RECAP // ADVISOR DISCUSSION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41732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417320"/>
            <a:ext cx="64008" cy="2377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Kanit"/>
              </a:rPr>
              <a:t>SCOPE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ESM-only or hybrid?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2468880"/>
            <a:ext cx="2926079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Protein branch first may be easier to validate; hybrid remains an ablation.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141732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1417320"/>
            <a:ext cx="64008" cy="2377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00C853"/>
                </a:solidFill>
                <a:latin typeface="Kanit"/>
              </a:rPr>
              <a:t>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What is the unit?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468880"/>
            <a:ext cx="2926079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sequence, genome, species, or parent group? This controls leakage risk.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1417320"/>
            <a:ext cx="3337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1417320"/>
            <a:ext cx="64008" cy="23774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600200"/>
            <a:ext cx="292607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FF5722"/>
                </a:solidFill>
                <a:latin typeface="Kanit"/>
              </a:rPr>
              <a:t>SUCCESS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947672"/>
            <a:ext cx="29260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202124"/>
                </a:solidFill>
                <a:latin typeface="Kanit"/>
              </a:rPr>
              <a:t>What counts as better?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468880"/>
            <a:ext cx="2926079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Noto Sans Thai"/>
              </a:rPr>
              <a:t>F1, recall, PR-AUC, runtime, or a trade-off against RF F1 = 0.8706?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617720"/>
            <a:ext cx="10972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Kanit"/>
              </a:rPr>
              <a:t>END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983480"/>
            <a:ext cx="102412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202124"/>
                </a:solidFill>
                <a:latin typeface="Kanit"/>
              </a:rPr>
              <a:t>ได้ research question + split + baseline set + minimum experiment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9000" y="5715000"/>
            <a:ext cx="5349240" cy="329184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38728" y="5779008"/>
            <a:ext cx="5129783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0C853"/>
                </a:solidFill>
                <a:latin typeface="Kanit"/>
              </a:rPr>
              <a:t>BASELINE READY  /  PROPOSED METHOD TO VALIDATE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