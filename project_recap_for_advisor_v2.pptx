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A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914400"/>
            <a:ext cx="109728" cy="4663440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188720"/>
            <a:ext cx="98755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Project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98755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Aptos"/>
              </a:rPr>
              <a:t>Plasmid Classification on DNA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969264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100" b="0">
                <a:solidFill>
                  <a:srgbClr val="D2E0E8"/>
                </a:solidFill>
                <a:latin typeface="Aptos"/>
              </a:rPr>
              <a:t>สถานะปัจจุบัน, สมมติฐาน, ข้อจำกัด และแผนการทดลองต่อไป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166360"/>
            <a:ext cx="731520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B4C6D2"/>
                </a:solidFill>
                <a:latin typeface="Aptos"/>
              </a:rPr>
              <a:t>สำหรับคุยกับอาจารย์ที่ปรึกษา | 7 กันยายน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1. Research question and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4847E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5303520" cy="14173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44168"/>
            <a:ext cx="501091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09928"/>
            <a:ext cx="5010912" cy="8503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000" b="0">
                <a:solidFill>
                  <a:srgbClr val="232930"/>
                </a:solidFill>
                <a:latin typeface="Aptos"/>
              </a:rPr>
              <a:t>Can a model distinguish plasmid from chromosome sequence in bacterial genomes?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234440"/>
            <a:ext cx="5303520" cy="14173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344168"/>
            <a:ext cx="501091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Why it matters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9944" y="1709928"/>
            <a:ext cx="5010912" cy="8503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Plasmids are important carriers of antimicrobial-resistance genes and can spread through horizontal gene transfer.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10515600" cy="219456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930"/>
                </a:solidFill>
                <a:latin typeface="Aptos"/>
              </a:defRPr>
            </a:pPr>
            <a:r>
              <a:t>Target: a fast, alignment-free classifier for plasmid / chromosome</a:t>
            </a:r>
          </a:p>
          <a:p>
            <a:pPr>
              <a:spcAft>
                <a:spcPts val="800"/>
              </a:spcAft>
              <a:defRPr sz="2000" b="0">
                <a:solidFill>
                  <a:srgbClr val="232930"/>
                </a:solidFill>
                <a:latin typeface="Aptos"/>
              </a:defRPr>
            </a:pPr>
            <a:r>
              <a:t>Input: DNA sequence or assembled contig</a:t>
            </a:r>
          </a:p>
          <a:p>
            <a:pPr>
              <a:spcAft>
                <a:spcPts val="800"/>
              </a:spcAft>
              <a:defRPr sz="2000" b="0">
                <a:solidFill>
                  <a:srgbClr val="232930"/>
                </a:solidFill>
                <a:latin typeface="Aptos"/>
              </a:defRPr>
            </a:pPr>
            <a:r>
              <a:t>Output: binary class and evaluation metrics</a:t>
            </a:r>
          </a:p>
          <a:p>
            <a:pPr>
              <a:spcAft>
                <a:spcPts val="800"/>
              </a:spcAft>
              <a:defRPr sz="2000" b="0">
                <a:solidFill>
                  <a:srgbClr val="232930"/>
                </a:solidFill>
                <a:latin typeface="Aptos"/>
              </a:defRPr>
            </a:pPr>
            <a:r>
              <a:t>Research question: does contextual protein representation improve over k-mer baselines?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6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2. Current progress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D6FA3"/>
                </a:solidFill>
                <a:latin typeface="Aptos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47472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709928"/>
            <a:ext cx="318211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Dataset exploration
K-mer + ML baselines
External baseline runs
Architecture prototypes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34440"/>
            <a:ext cx="347472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In progress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709928"/>
            <a:ext cx="318211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Protein tokenization
ESM-2 embedding pipeline
Attention pooling design
Fair comparison protocol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47472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344168"/>
            <a:ext cx="318211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Not yet established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709928"/>
            <a:ext cx="318211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Attention + MLP on the full dataset
Generalization across species
Leakage-safe fragment evaluation
Final proposed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42416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182A42"/>
                </a:solidFill>
                <a:latin typeface="Aptos"/>
              </a:rPr>
              <a:t>Key message: the project has a working baseline and a prototype architecture; the proposed method is not yet validated at scale.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3. Data and evaluation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4847E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29000" cy="274320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25272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Main benchmark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18488"/>
            <a:ext cx="3136392" cy="21762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PlasmidHunter benchmark
12,372 plasmids + 12,372 chromosomes
1 kb to 100 kb
Median length: 10 kb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143000"/>
            <a:ext cx="3429000" cy="274320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25272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Development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618488"/>
            <a:ext cx="3136392" cy="21762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NCBI RefSeq-derived data
Current prototype: 250 plasmids + 250 chromosomes
Used for training experiments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143000"/>
            <a:ext cx="3429000" cy="274320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4464" y="125272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Small 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1618488"/>
            <a:ext cx="3136392" cy="21762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50 sequences per class
20 held-out test sequences
Single random split
CPU-constrained experiments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AB4545"/>
                </a:solidFill>
                <a:latin typeface="Aptos"/>
              </a:rPr>
              <a:t>Important: the slide deck and repository contain multiple dataset protocols. Every final comparison must name the exact split and sample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" name="Rectangle 14"/>
          <p:cNvSpPr/>
          <p:nvPr/>
        </p:nvSpPr>
        <p:spPr>
          <a:xfrm>
            <a:off x="8503919" y="1737360"/>
            <a:ext cx="1828800" cy="384048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75120" y="1737360"/>
            <a:ext cx="1828800" cy="384048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846320" y="1737360"/>
            <a:ext cx="1828800" cy="384048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737360"/>
            <a:ext cx="3840480" cy="384048"/>
          </a:xfrm>
          <a:prstGeom prst="rect">
            <a:avLst/>
          </a:prstGeom>
          <a:solidFill>
            <a:srgbClr val="18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6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4. Baseline pipeline and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D6FA3"/>
                </a:solidFill>
                <a:latin typeface="Aptos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05156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182A42"/>
                </a:solidFill>
                <a:latin typeface="Aptos"/>
              </a:rPr>
              <a:t>Canonical 5-mer frequency (512 features) -&gt;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737360"/>
            <a:ext cx="384048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737360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Accuracy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737360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737360"/>
            <a:ext cx="18288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AUC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2148840"/>
            <a:ext cx="384048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258568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Logistic Regression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214884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225856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0.6260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214884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225856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0.6619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03919" y="214884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19" y="225856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0.6754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743200"/>
            <a:ext cx="3840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2852928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Linear SVM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274320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6320" y="285292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0.7195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74320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5120" y="285292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0.7272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03919" y="274320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285292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0.7831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3337560"/>
            <a:ext cx="384048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3447288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232930"/>
                </a:solidFill>
                <a:latin typeface="Aptos"/>
              </a:rPr>
              <a:t>Random Forest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46320" y="333756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46320" y="344728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232930"/>
                </a:solidFill>
                <a:latin typeface="Aptos"/>
              </a:rPr>
              <a:t>0.8717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333756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344728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232930"/>
                </a:solidFill>
                <a:latin typeface="Aptos"/>
              </a:rPr>
              <a:t>0.8706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19" y="3337560"/>
            <a:ext cx="1828800" cy="566928"/>
          </a:xfrm>
          <a:prstGeom prst="rect">
            <a:avLst/>
          </a:prstGeom>
          <a:solidFill>
            <a:srgbClr val="EBF1F5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19" y="344728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1">
                <a:solidFill>
                  <a:srgbClr val="232930"/>
                </a:solidFill>
                <a:latin typeface="Aptos"/>
              </a:rPr>
              <a:t>0.9501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3931920"/>
            <a:ext cx="38404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5840" y="4041648"/>
            <a:ext cx="384048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MLP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93192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404164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0.8586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393192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5120" y="404164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0.8523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03919" y="3931920"/>
            <a:ext cx="18288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2DC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03919" y="4041648"/>
            <a:ext cx="18288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232930"/>
                </a:solidFill>
                <a:latin typeface="Aptos"/>
              </a:rPr>
              <a:t>0.9272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4937760"/>
            <a:ext cx="27432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500" b="1">
                <a:solidFill>
                  <a:srgbClr val="24847E"/>
                </a:solidFill>
                <a:latin typeface="Aptos"/>
              </a:rPr>
              <a:t>0.8706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828800" y="5376672"/>
            <a:ext cx="27432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0">
                <a:solidFill>
                  <a:srgbClr val="5C6873"/>
                </a:solidFill>
                <a:latin typeface="Aptos"/>
              </a:rPr>
              <a:t>best F1: Random Forest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54880" y="4937760"/>
            <a:ext cx="27432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500" b="1">
                <a:solidFill>
                  <a:srgbClr val="2D6FA3"/>
                </a:solidFill>
                <a:latin typeface="Aptos"/>
              </a:rPr>
              <a:t>13 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5376672"/>
            <a:ext cx="27432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0">
                <a:solidFill>
                  <a:srgbClr val="5C6873"/>
                </a:solidFill>
                <a:latin typeface="Aptos"/>
              </a:rPr>
              <a:t>RF training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80960" y="4937760"/>
            <a:ext cx="27432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500" b="1">
                <a:solidFill>
                  <a:srgbClr val="D37736"/>
                </a:solidFill>
                <a:latin typeface="Aptos"/>
              </a:rPr>
              <a:t>266 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5376672"/>
            <a:ext cx="2743200" cy="384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0">
                <a:solidFill>
                  <a:srgbClr val="5C6873"/>
                </a:solidFill>
                <a:latin typeface="Aptos"/>
              </a:rPr>
              <a:t>MLP training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3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5. External and literature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D37736"/>
                </a:solidFill>
                <a:latin typeface="Aptos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960120"/>
            <a:ext cx="108813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182A42"/>
                </a:solidFill>
                <a:latin typeface="Aptos"/>
              </a:rPr>
              <a:t>แยกจาก our trained baselines: ผลเหล่านี้ต้องใช้ test set และ evaluation rule เดียวกันก่อนจึงจะจัดอันดับได้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00200"/>
            <a:ext cx="2743200" cy="338328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709928"/>
            <a:ext cx="24505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PlasClass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075688"/>
            <a:ext cx="2450592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0">
                <a:solidFill>
                  <a:srgbClr val="232930"/>
                </a:solidFill>
                <a:latin typeface="Aptos"/>
              </a:rPr>
              <a:t>Status: รันจริงใน repo
F1 = 0.8588
Lightweight pretrained tool
Result: results/pretrained_baselines/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600200"/>
            <a:ext cx="2743200" cy="338328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3" y="1709928"/>
            <a:ext cx="24505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DeepLasmid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3" y="2075688"/>
            <a:ext cx="2450592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0">
                <a:solidFill>
                  <a:srgbClr val="232930"/>
                </a:solidFill>
                <a:latin typeface="Aptos"/>
              </a:rPr>
              <a:t>Status: รันจริงผ่าน Docker
F1 = 0.8490
Precision 0.9917 / Recall 0.7422
963 predictions parsed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1600200"/>
            <a:ext cx="2743200" cy="338328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4264" y="1709928"/>
            <a:ext cx="24505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mlplasmids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4264" y="2075688"/>
            <a:ext cx="2450592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0">
                <a:solidFill>
                  <a:srgbClr val="232930"/>
                </a:solidFill>
                <a:latin typeface="Aptos"/>
              </a:rPr>
              <a:t>Status: มี runner code แต่ไม่มี reproducible output
Slide reports F1 = 0.5498
Needs Docker/R environment
Species-specific concern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1600200"/>
            <a:ext cx="2103120" cy="338328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AB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6064" y="1709928"/>
            <a:ext cx="1810511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AB4545"/>
                </a:solidFill>
                <a:latin typeface="Aptos"/>
              </a:rPr>
              <a:t>PlasmidHunter / PLASMe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6064" y="2075688"/>
            <a:ext cx="1810511" cy="281635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500" b="0">
                <a:solidFill>
                  <a:srgbClr val="232930"/>
                </a:solidFill>
                <a:latin typeface="Aptos"/>
              </a:rPr>
              <a:t>Status: ยังไม่ได้รันใน workspace
Alignment/database heavy
Requires external tools and large DB
Not a weakness claim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40680"/>
            <a:ext cx="105156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AB4545"/>
                </a:solidFill>
                <a:latin typeface="Aptos"/>
              </a:rPr>
              <a:t>Takeaway: external methods are not absent because they are weak; the current gap is reproducibility, dependencies, and protocol mismatch.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6. What the baseline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4847E"/>
                </a:solidFill>
                <a:latin typeface="Aptos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6492240" cy="448056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Non-linear models are stronger than linear models on this benchmark.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Random Forest is the current primary baseline: F1 = 0.8706.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Performance depends strongly on fragment length:</a:t>
            </a:r>
          </a:p>
          <a:p>
            <a:pPr lvl="1">
              <a:spcAft>
                <a:spcPts val="300"/>
              </a:spcAft>
              <a:defRPr sz="1700" b="0">
                <a:solidFill>
                  <a:srgbClr val="232930"/>
                </a:solidFill>
                <a:latin typeface="Aptos"/>
              </a:defRPr>
            </a:pPr>
            <a:r>
              <a:t>1 kb: RF F1 = 0.6473</a:t>
            </a:r>
          </a:p>
          <a:p>
            <a:pPr lvl="1">
              <a:spcAft>
                <a:spcPts val="300"/>
              </a:spcAft>
              <a:defRPr sz="1700" b="0">
                <a:solidFill>
                  <a:srgbClr val="232930"/>
                </a:solidFill>
                <a:latin typeface="Aptos"/>
              </a:defRPr>
            </a:pPr>
            <a:r>
              <a:t>10 kb: RF F1 = 0.8421</a:t>
            </a:r>
          </a:p>
          <a:p>
            <a:pPr lvl="1">
              <a:spcAft>
                <a:spcPts val="300"/>
              </a:spcAft>
              <a:defRPr sz="1700" b="0">
                <a:solidFill>
                  <a:srgbClr val="232930"/>
                </a:solidFill>
                <a:latin typeface="Aptos"/>
              </a:defRPr>
            </a:pPr>
            <a:r>
              <a:t>100 kb: RF F1 = 0.9026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The baseline is strong enough that the proposed method must be compared against it under the same protocol.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35240" y="1325880"/>
            <a:ext cx="3749039" cy="242316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81544" y="1435607"/>
            <a:ext cx="345643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81544" y="1801368"/>
            <a:ext cx="3456432" cy="185623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Short fragments have sparse/noisy k-mer profiles. This is the main opportunity for a contextual model, but it is also where leakage and split design matter most.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977639"/>
            <a:ext cx="3749039" cy="173736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81544" y="4087368"/>
            <a:ext cx="345643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External reference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1544" y="4453127"/>
            <a:ext cx="3456432" cy="117043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PlasClass F1 = 0.8588
DeepLasmid F1 = 0.8490
Not directly comparable yet: protocols differ.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D6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7. Proposed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D6FA3"/>
                </a:solidFill>
                <a:latin typeface="Apto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80160"/>
            <a:ext cx="3429000" cy="329184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138988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Protein/function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1755648"/>
            <a:ext cx="3136392" cy="2724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DNA
-&gt; ORF extraction
-&gt; amino-acid tokenization
-&gt; ESM-2 embedding
-&gt; attention pooling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429000" cy="329184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138988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DNA/structure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1755648"/>
            <a:ext cx="3136392" cy="2724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800" b="0">
                <a:solidFill>
                  <a:srgbClr val="232930"/>
                </a:solidFill>
                <a:latin typeface="Aptos"/>
              </a:rPr>
              <a:t>DNA
-&gt; 6-mer tokenization
-&gt; DNABERT windows
-&gt; attention pooling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80160"/>
            <a:ext cx="3429000" cy="329184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38744" y="1389888"/>
            <a:ext cx="313639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Fusion +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1755648"/>
            <a:ext cx="3136392" cy="272491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Concatenate contextual vectors
-&gt; MLP classifier
Compare with:
- classical ML
- feed-forward MLP
- attention + MLP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6636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AB4545"/>
                </a:solidFill>
                <a:latin typeface="Aptos"/>
              </a:rPr>
              <a:t>Current gap: embeddings and attention prototypes exist, but Attention + MLP has not yet been validated on the full, controlled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3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8. Assumptions to test, not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D37736"/>
                </a:solidFill>
                <a:latin typeface="Aptos"/>
              </a:rPr>
              <a:t>HYPOTHESES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52044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D37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252728"/>
            <a:ext cx="322783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D37736"/>
                </a:solidFill>
                <a:latin typeface="Aptos"/>
              </a:rPr>
              <a:t>H1: coding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1618488"/>
            <a:ext cx="322783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If a large fraction of bacterial sequence is coding, translating ORFs to protein may expose functional signals more directly than raw k-mers.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143000"/>
            <a:ext cx="352044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D6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1252728"/>
            <a:ext cx="322783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D6FA3"/>
                </a:solidFill>
                <a:latin typeface="Aptos"/>
              </a:rPr>
              <a:t>H2: representation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9704" y="1618488"/>
            <a:ext cx="322783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Pretrained ESM-2 embeddings may encode more useful biological context than k-mer counts, TF-IDF, or raw protein tokens.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143000"/>
            <a:ext cx="3520440" cy="3474720"/>
          </a:xfrm>
          <a:prstGeom prst="roundRect">
            <a:avLst/>
          </a:prstGeom>
          <a:solidFill>
            <a:srgbClr val="F2F6F8"/>
          </a:solidFill>
          <a:ln w="15240">
            <a:solidFill>
              <a:srgbClr val="248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024" y="1252728"/>
            <a:ext cx="3227832" cy="2926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600" b="1">
                <a:solidFill>
                  <a:srgbClr val="24847E"/>
                </a:solidFill>
                <a:latin typeface="Aptos"/>
              </a:rPr>
              <a:t>H3: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3024" y="1618488"/>
            <a:ext cx="3227832" cy="2907791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0">
                <a:solidFill>
                  <a:srgbClr val="232930"/>
                </a:solidFill>
                <a:latin typeface="Aptos"/>
              </a:rPr>
              <a:t>Attention pooling may select informative ORFs instead of averaging all ORFs equally, but order/context must be defined and measured.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900" b="1">
                <a:solidFill>
                  <a:srgbClr val="182A42"/>
                </a:solidFill>
                <a:latin typeface="Aptos"/>
              </a:rPr>
              <a:t>Required evidence: ablation study + controlled split + confidence interval + comparison to RF 5-mer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AB4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9. Current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AB4545"/>
                </a:solidFill>
                <a:latin typeface="Aptos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143000"/>
            <a:ext cx="10515600" cy="43891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Only a small subset is used for Transformer training: typically 50 + / 50 -.</a:t>
            </a:r>
          </a:p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Single random split and small test set make prototype scores unstable.</a:t>
            </a:r>
          </a:p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Fragment evaluation can leak parent-sequence information across train/test.</a:t>
            </a:r>
          </a:p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The comprehensive evaluator uses non-canonical k-mer extraction against a canonical vocabulary.</a:t>
            </a:r>
          </a:p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ESM preprocessing drops short ORFs and non-coding regions; DNABERT uses limited windows.</a:t>
            </a:r>
          </a:p>
          <a:p>
            <a:pPr>
              <a:spcAft>
                <a:spcPts val="800"/>
              </a:spcAft>
              <a:defRPr sz="1900" b="0">
                <a:solidFill>
                  <a:srgbClr val="AB4545"/>
                </a:solidFill>
                <a:latin typeface="Aptos"/>
              </a:defRPr>
            </a:pPr>
            <a:r>
              <a:t>Some reported numbers use different protocols and are not directly comparable.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1">
                <a:solidFill>
                  <a:srgbClr val="AB4545"/>
                </a:solidFill>
                <a:latin typeface="Aptos"/>
              </a:rPr>
              <a:t>Interpretation: the present results support feasibility, not final superiority.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10. Proposed next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4847E"/>
                </a:solidFill>
                <a:latin typeface="Aptos"/>
              </a:rPr>
              <a:t>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11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234440"/>
            <a:ext cx="566928" cy="566928"/>
          </a:xfrm>
          <a:prstGeom prst="ellipse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35024"/>
            <a:ext cx="5669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5607" y="125272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1">
                <a:solidFill>
                  <a:srgbClr val="182A42"/>
                </a:solidFill>
                <a:latin typeface="Aptos"/>
              </a:rPr>
              <a:t>Lock data manifest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5607" y="1618488"/>
            <a:ext cx="28803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232930"/>
                </a:solidFill>
                <a:latin typeface="Aptos"/>
              </a:rPr>
              <a:t>IDs, source, species, parent genome, label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234440"/>
            <a:ext cx="566928" cy="566928"/>
          </a:xfrm>
          <a:prstGeom prst="ellipse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335024"/>
            <a:ext cx="5669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30368" y="125272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1">
                <a:solidFill>
                  <a:srgbClr val="182A42"/>
                </a:solidFill>
                <a:latin typeface="Aptos"/>
              </a:rPr>
              <a:t>Leakage-safe split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30368" y="1618488"/>
            <a:ext cx="28803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232930"/>
                </a:solidFill>
                <a:latin typeface="Aptos"/>
              </a:rPr>
              <a:t>Group by genome/species before fragments</a:t>
            </a:r>
          </a:p>
        </p:txBody>
      </p:sp>
      <p:sp>
        <p:nvSpPr>
          <p:cNvPr id="15" name="Oval 14"/>
          <p:cNvSpPr/>
          <p:nvPr/>
        </p:nvSpPr>
        <p:spPr>
          <a:xfrm>
            <a:off x="8275320" y="1234440"/>
            <a:ext cx="566928" cy="566928"/>
          </a:xfrm>
          <a:prstGeom prst="ellipse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1335024"/>
            <a:ext cx="5669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125272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1">
                <a:solidFill>
                  <a:srgbClr val="182A42"/>
                </a:solidFill>
                <a:latin typeface="Aptos"/>
              </a:rPr>
              <a:t>Run common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5128" y="1618488"/>
            <a:ext cx="28803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232930"/>
                </a:solidFill>
                <a:latin typeface="Aptos"/>
              </a:rPr>
              <a:t>RF, SVM, MLP, PlasClass, DeepLasmid, ESM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383280"/>
            <a:ext cx="566928" cy="566928"/>
          </a:xfrm>
          <a:prstGeom prst="ellipse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3483864"/>
            <a:ext cx="5669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35607" y="34015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1">
                <a:solidFill>
                  <a:srgbClr val="182A42"/>
                </a:solidFill>
                <a:latin typeface="Aptos"/>
              </a:rPr>
              <a:t>Ablation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35607" y="3767328"/>
            <a:ext cx="28803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232930"/>
                </a:solidFill>
                <a:latin typeface="Aptos"/>
              </a:rPr>
              <a:t>Mean vs attention; ESM vs DNA vs hybrid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383280"/>
            <a:ext cx="566928" cy="566928"/>
          </a:xfrm>
          <a:prstGeom prst="ellipse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80560" y="3483864"/>
            <a:ext cx="566928" cy="2286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3401568"/>
            <a:ext cx="28346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700" b="1">
                <a:solidFill>
                  <a:srgbClr val="182A42"/>
                </a:solidFill>
                <a:latin typeface="Aptos"/>
              </a:rPr>
              <a:t>Scale on server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0368" y="3767328"/>
            <a:ext cx="288036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400" b="0">
                <a:solidFill>
                  <a:srgbClr val="232930"/>
                </a:solidFill>
                <a:latin typeface="Aptos"/>
              </a:rPr>
              <a:t>Full training data, repeated runs, confidence intervals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715000"/>
            <a:ext cx="1033272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000" b="1">
                <a:solidFill>
                  <a:srgbClr val="24847E"/>
                </a:solidFill>
                <a:latin typeface="Aptos"/>
              </a:rPr>
              <a:t>Decision point: validate the benchmark protocol before increasing model complexity.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D377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11. Questions for advisor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D37736"/>
                </a:solidFill>
                <a:latin typeface="Aptos"/>
              </a:rPr>
              <a:t>DECISION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097280"/>
            <a:ext cx="10698480" cy="438912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Should the final contribution focus on ESM-2 protein representation, or keep the hybrid architecture as the main proposal?</a:t>
            </a:r>
          </a:p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What is the accepted data split: random sequence split, species-level split, or genome-level split?</a:t>
            </a:r>
          </a:p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Should the target be full sequences, simulated contigs, or both with separate evaluations?</a:t>
            </a:r>
          </a:p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Which baseline set is mandatory: our RF/SVM/MLP, PlasClass, DeepLasmid, mlplasmids?</a:t>
            </a:r>
          </a:p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Is the primary metric plasmid F1, macro-F1, recall, or a cost-sensitive metric for AMR screening?</a:t>
            </a:r>
          </a:p>
          <a:p>
            <a:pPr>
              <a:spcAft>
                <a:spcPts val="800"/>
              </a:spcAft>
              <a:defRPr sz="1800" b="0">
                <a:solidFill>
                  <a:srgbClr val="232930"/>
                </a:solidFill>
                <a:latin typeface="Aptos"/>
              </a:defRPr>
            </a:pPr>
            <a:r>
              <a:t>What result would count as a meaningful improvement over RF 5-mer F1 = 0.8706?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715000"/>
            <a:ext cx="104241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100" b="1">
                <a:solidFill>
                  <a:srgbClr val="182A42"/>
                </a:solidFill>
                <a:latin typeface="Aptos"/>
              </a:rPr>
              <a:t>Goal of today: agree on the research question, evaluation protocol, and minimum experiment set.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484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7899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700" b="1">
                <a:solidFill>
                  <a:srgbClr val="182A42"/>
                </a:solidFill>
                <a:latin typeface="Aptos"/>
              </a:rPr>
              <a:t>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0" y="438912"/>
            <a:ext cx="192024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900" b="1">
                <a:solidFill>
                  <a:srgbClr val="24847E"/>
                </a:solidFill>
                <a:latin typeface="Aptos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28816"/>
            <a:ext cx="411480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5C6873"/>
                </a:solidFill>
                <a:latin typeface="Aptos"/>
              </a:rPr>
              <a:t>Project recap | Plasmid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320040" cy="1828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/>
            <a:r>
              <a:rPr sz="800" b="0">
                <a:solidFill>
                  <a:srgbClr val="5C6873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24847E"/>
                </a:solidFill>
                <a:latin typeface="Aptos"/>
              </a:rPr>
              <a:t>What is already solid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754880" cy="246888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Working dataset and code base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Strong k-mer baseline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Initial Transformer prototypes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Clear engineering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43000"/>
            <a:ext cx="493776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2200" b="1">
                <a:solidFill>
                  <a:srgbClr val="D37736"/>
                </a:solidFill>
                <a:latin typeface="Aptos"/>
              </a:rPr>
              <a:t>What must happen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91640"/>
            <a:ext cx="4754880" cy="2468880"/>
          </a:xfrm>
          <a:prstGeom prst="rect">
            <a:avLst/>
          </a:prstGeom>
          <a:noFill/>
        </p:spPr>
        <p:txBody>
          <a:bodyPr wrap="square" lIns="73152" rIns="45720" tIns="36576" bIns="36576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Make the split leakage-safe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Run all models on one protocol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Train beyond 50 + / 50 -</a:t>
            </a:r>
          </a:p>
          <a:p>
            <a:pPr>
              <a:spcAft>
                <a:spcPts val="800"/>
              </a:spcAft>
              <a:defRPr sz="1900" b="0">
                <a:solidFill>
                  <a:srgbClr val="232930"/>
                </a:solidFill>
                <a:latin typeface="Aptos"/>
              </a:defRPr>
            </a:pPr>
            <a:r>
              <a:t>Test whether context adds 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92040"/>
            <a:ext cx="103327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500" b="1">
                <a:solidFill>
                  <a:srgbClr val="182A42"/>
                </a:solidFill>
                <a:latin typeface="Aptos"/>
              </a:rPr>
              <a:t>The proposed method is a testable hypothesis, not yet a validated winner.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